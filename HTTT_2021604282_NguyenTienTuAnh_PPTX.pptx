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aytone One" charset="1" panose="00000500000000000000"/>
      <p:regular r:id="rId21"/>
    </p:embeddedFont>
    <p:embeddedFont>
      <p:font typeface="Montserrat" charset="1" panose="00000500000000000000"/>
      <p:regular r:id="rId22"/>
    </p:embeddedFont>
    <p:embeddedFont>
      <p:font typeface="SVN-Gilroy" charset="1" panose="00000500000000000000"/>
      <p:regular r:id="rId23"/>
    </p:embeddedFont>
    <p:embeddedFont>
      <p:font typeface="Montserrat Bold" charset="1" panose="00000800000000000000"/>
      <p:regular r:id="rId24"/>
    </p:embeddedFont>
    <p:embeddedFont>
      <p:font typeface="League Gothic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media/image3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2" Target="../media/image3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-21368" b="-345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68393" y="931568"/>
            <a:ext cx="2151214" cy="2151214"/>
          </a:xfrm>
          <a:custGeom>
            <a:avLst/>
            <a:gdLst/>
            <a:ahLst/>
            <a:cxnLst/>
            <a:rect r="r" b="b" t="t" l="l"/>
            <a:pathLst>
              <a:path h="2151214" w="2151214">
                <a:moveTo>
                  <a:pt x="0" y="0"/>
                </a:moveTo>
                <a:lnTo>
                  <a:pt x="2151214" y="0"/>
                </a:lnTo>
                <a:lnTo>
                  <a:pt x="2151214" y="2151215"/>
                </a:lnTo>
                <a:lnTo>
                  <a:pt x="0" y="21512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02556" y="3496546"/>
            <a:ext cx="10754187" cy="110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37"/>
              </a:lnSpc>
            </a:pPr>
            <a:r>
              <a:rPr lang="en-US" sz="7510">
                <a:solidFill>
                  <a:srgbClr val="FECB02"/>
                </a:solidFill>
                <a:latin typeface="Paytone One"/>
                <a:ea typeface="Paytone One"/>
                <a:cs typeface="Paytone One"/>
                <a:sym typeface="Paytone One"/>
              </a:rPr>
              <a:t>ĐỒ ÁN TỐT NGHIỆP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54103" y="4619805"/>
            <a:ext cx="7979793" cy="52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sz="2969" spc="445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NGÀNH HỆ THỐNG THÔNG TIN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4018" y="390525"/>
            <a:ext cx="139799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3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KHOA CÔNG NGHỆ THÔNG TIN TRƯỜNG ĐẠI HỌC CÔNG NGHIỆP HÀ NỘI</a:t>
            </a:r>
          </a:p>
          <a:p>
            <a:pPr algn="ctr">
              <a:lnSpc>
                <a:spcPts val="261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25033" y="5488888"/>
            <a:ext cx="14309232" cy="143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4"/>
              </a:lnSpc>
            </a:pPr>
            <a:r>
              <a:rPr lang="en-US" sz="32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XÂY DỰNG HỆ THỐNG PHÂN TÍCH VÀ TRỰC QUAN HÓA DỮ LIỆU DOANH THU BÁN HÀNG CỦA MỘT CỬA HÀNG TRỰC TUYẾN</a:t>
            </a:r>
          </a:p>
          <a:p>
            <a:pPr algn="ctr">
              <a:lnSpc>
                <a:spcPts val="37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181110" y="6945350"/>
            <a:ext cx="6695480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CBHD                     : THS. NGUYỄN ĐỨC LƯU</a:t>
            </a:r>
          </a:p>
          <a:p>
            <a:pPr algn="l">
              <a:lnSpc>
                <a:spcPts val="28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SINH VIÊN             : NGUYỄN TIẾN TÚ ANH</a:t>
            </a:r>
          </a:p>
          <a:p>
            <a:pPr algn="l">
              <a:lnSpc>
                <a:spcPts val="28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MÃ SINH VIÊN      : 2021604282</a:t>
            </a:r>
          </a:p>
          <a:p>
            <a:pPr algn="l">
              <a:lnSpc>
                <a:spcPts val="28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LỚP                         : 2021DHHTTT02 – K16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2341" y="1047750"/>
            <a:ext cx="7168757" cy="8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5709">
                <a:solidFill>
                  <a:srgbClr val="FFFFFF"/>
                </a:solidFill>
                <a:latin typeface="SVN-Gilroy"/>
                <a:ea typeface="SVN-Gilroy"/>
                <a:cs typeface="SVN-Gilroy"/>
                <a:sym typeface="SVN-Gilroy"/>
              </a:rPr>
              <a:t>LÝ DO CHỌN ĐỀ TÀI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69771" y="3662511"/>
            <a:ext cx="2675503" cy="2961979"/>
            <a:chOff x="0" y="0"/>
            <a:chExt cx="3567337" cy="39493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72359" y="0"/>
              <a:ext cx="3022619" cy="2539000"/>
            </a:xfrm>
            <a:custGeom>
              <a:avLst/>
              <a:gdLst/>
              <a:ahLst/>
              <a:cxnLst/>
              <a:rect r="r" b="b" t="t" l="l"/>
              <a:pathLst>
                <a:path h="2539000" w="3022619">
                  <a:moveTo>
                    <a:pt x="0" y="0"/>
                  </a:moveTo>
                  <a:lnTo>
                    <a:pt x="3022619" y="0"/>
                  </a:lnTo>
                  <a:lnTo>
                    <a:pt x="3022619" y="2539000"/>
                  </a:lnTo>
                  <a:lnTo>
                    <a:pt x="0" y="25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3050356"/>
              <a:ext cx="3567337" cy="898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5"/>
                </a:lnSpc>
              </a:pPr>
              <a:r>
                <a:rPr lang="en-US" sz="2300">
                  <a:solidFill>
                    <a:srgbClr val="FECB0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LƯỢNG DỮ LIỆU LỚN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29951" y="3807943"/>
            <a:ext cx="2675503" cy="2816546"/>
            <a:chOff x="0" y="0"/>
            <a:chExt cx="3567337" cy="37553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65481" cy="2371916"/>
            </a:xfrm>
            <a:custGeom>
              <a:avLst/>
              <a:gdLst/>
              <a:ahLst/>
              <a:cxnLst/>
              <a:rect r="r" b="b" t="t" l="l"/>
              <a:pathLst>
                <a:path h="2371916" w="3065481">
                  <a:moveTo>
                    <a:pt x="0" y="0"/>
                  </a:moveTo>
                  <a:lnTo>
                    <a:pt x="3065481" y="0"/>
                  </a:lnTo>
                  <a:lnTo>
                    <a:pt x="3065481" y="2371916"/>
                  </a:lnTo>
                  <a:lnTo>
                    <a:pt x="0" y="2371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856447"/>
              <a:ext cx="3567337" cy="898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5"/>
                </a:lnSpc>
              </a:pPr>
              <a:r>
                <a:rPr lang="en-US" sz="2300">
                  <a:solidFill>
                    <a:srgbClr val="FECB0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TIẾT KIỆM CHI PHÍ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81961" y="3662511"/>
            <a:ext cx="3511302" cy="2961979"/>
            <a:chOff x="0" y="0"/>
            <a:chExt cx="4681736" cy="39493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58358" y="0"/>
              <a:ext cx="3038563" cy="2563788"/>
            </a:xfrm>
            <a:custGeom>
              <a:avLst/>
              <a:gdLst/>
              <a:ahLst/>
              <a:cxnLst/>
              <a:rect r="r" b="b" t="t" l="l"/>
              <a:pathLst>
                <a:path h="2563788" w="3038563">
                  <a:moveTo>
                    <a:pt x="0" y="0"/>
                  </a:moveTo>
                  <a:lnTo>
                    <a:pt x="3038564" y="0"/>
                  </a:lnTo>
                  <a:lnTo>
                    <a:pt x="3038564" y="2563788"/>
                  </a:lnTo>
                  <a:lnTo>
                    <a:pt x="0" y="2563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3050356"/>
              <a:ext cx="4681736" cy="898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5"/>
                </a:lnSpc>
              </a:pPr>
              <a:r>
                <a:rPr lang="en-US" sz="2300">
                  <a:solidFill>
                    <a:srgbClr val="FECB0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TĂNG HIỆU QUẢ &amp;</a:t>
              </a:r>
            </a:p>
            <a:p>
              <a:pPr algn="ctr">
                <a:lnSpc>
                  <a:spcPts val="2645"/>
                </a:lnSpc>
              </a:pPr>
              <a:r>
                <a:rPr lang="en-US" sz="2300">
                  <a:solidFill>
                    <a:srgbClr val="FECB0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ỨNG DỤNG THỰC TIỄN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81431" y="3974631"/>
            <a:ext cx="3036798" cy="2483171"/>
            <a:chOff x="0" y="0"/>
            <a:chExt cx="4049063" cy="3310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02170" cy="2466570"/>
            </a:xfrm>
            <a:custGeom>
              <a:avLst/>
              <a:gdLst/>
              <a:ahLst/>
              <a:cxnLst/>
              <a:rect r="r" b="b" t="t" l="l"/>
              <a:pathLst>
                <a:path h="2466570" w="3702170">
                  <a:moveTo>
                    <a:pt x="0" y="0"/>
                  </a:moveTo>
                  <a:lnTo>
                    <a:pt x="3702170" y="0"/>
                  </a:lnTo>
                  <a:lnTo>
                    <a:pt x="3702170" y="2466570"/>
                  </a:lnTo>
                  <a:lnTo>
                    <a:pt x="0" y="2466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2856447"/>
              <a:ext cx="4049063" cy="454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5"/>
                </a:lnSpc>
              </a:pPr>
              <a:r>
                <a:rPr lang="en-US" sz="2300">
                  <a:solidFill>
                    <a:srgbClr val="FECB0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GIẢM RỦI RO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4720" y="5417331"/>
            <a:ext cx="7623748" cy="4869669"/>
          </a:xfrm>
          <a:custGeom>
            <a:avLst/>
            <a:gdLst/>
            <a:ahLst/>
            <a:cxnLst/>
            <a:rect r="r" b="b" t="t" l="l"/>
            <a:pathLst>
              <a:path h="4869669" w="7623748">
                <a:moveTo>
                  <a:pt x="0" y="0"/>
                </a:moveTo>
                <a:lnTo>
                  <a:pt x="7623748" y="0"/>
                </a:lnTo>
                <a:lnTo>
                  <a:pt x="7623748" y="4869669"/>
                </a:lnTo>
                <a:lnTo>
                  <a:pt x="0" y="4869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0626" y="2503463"/>
            <a:ext cx="699858" cy="699858"/>
          </a:xfrm>
          <a:custGeom>
            <a:avLst/>
            <a:gdLst/>
            <a:ahLst/>
            <a:cxnLst/>
            <a:rect r="r" b="b" t="t" l="l"/>
            <a:pathLst>
              <a:path h="699858" w="699858">
                <a:moveTo>
                  <a:pt x="0" y="0"/>
                </a:moveTo>
                <a:lnTo>
                  <a:pt x="699858" y="0"/>
                </a:lnTo>
                <a:lnTo>
                  <a:pt x="699858" y="699858"/>
                </a:lnTo>
                <a:lnTo>
                  <a:pt x="0" y="699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72341" y="1047750"/>
            <a:ext cx="8557609" cy="8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5709">
                <a:solidFill>
                  <a:srgbClr val="FFFFFF"/>
                </a:solidFill>
                <a:latin typeface="SVN-Gilroy"/>
                <a:ea typeface="SVN-Gilroy"/>
                <a:cs typeface="SVN-Gilroy"/>
                <a:sym typeface="SVN-Gilroy"/>
              </a:rPr>
              <a:t>MỤC ĐÍCH CHỌN ĐỀ TÀI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4353" y="2444135"/>
            <a:ext cx="9220367" cy="83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XÂY DỰ</a:t>
            </a: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NG MỘT HỆ THỐNG PHÂN TÍCH VÀ TRỰC QUAN HÓA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4353" y="3777147"/>
            <a:ext cx="9085126" cy="83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HỖ TR</a:t>
            </a: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Ợ NHÀ QUẢN LÝ RA QUYẾT ĐỊNH DỰA TRÊN DỮ LIỆU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90626" y="3836476"/>
            <a:ext cx="699858" cy="699858"/>
          </a:xfrm>
          <a:custGeom>
            <a:avLst/>
            <a:gdLst/>
            <a:ahLst/>
            <a:cxnLst/>
            <a:rect r="r" b="b" t="t" l="l"/>
            <a:pathLst>
              <a:path h="699858" w="699858">
                <a:moveTo>
                  <a:pt x="0" y="0"/>
                </a:moveTo>
                <a:lnTo>
                  <a:pt x="699858" y="0"/>
                </a:lnTo>
                <a:lnTo>
                  <a:pt x="699858" y="699858"/>
                </a:lnTo>
                <a:lnTo>
                  <a:pt x="0" y="699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09594" y="5319562"/>
            <a:ext cx="9085126" cy="4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GIẢM TỒ</a:t>
            </a: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N KHO VÀ TĂNG DOANH THU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90626" y="5169341"/>
            <a:ext cx="699858" cy="699858"/>
          </a:xfrm>
          <a:custGeom>
            <a:avLst/>
            <a:gdLst/>
            <a:ahLst/>
            <a:cxnLst/>
            <a:rect r="r" b="b" t="t" l="l"/>
            <a:pathLst>
              <a:path h="699858" w="699858">
                <a:moveTo>
                  <a:pt x="0" y="0"/>
                </a:moveTo>
                <a:lnTo>
                  <a:pt x="699858" y="0"/>
                </a:lnTo>
                <a:lnTo>
                  <a:pt x="699858" y="699858"/>
                </a:lnTo>
                <a:lnTo>
                  <a:pt x="0" y="699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4720" y="5417331"/>
            <a:ext cx="7623748" cy="4869669"/>
          </a:xfrm>
          <a:custGeom>
            <a:avLst/>
            <a:gdLst/>
            <a:ahLst/>
            <a:cxnLst/>
            <a:rect r="r" b="b" t="t" l="l"/>
            <a:pathLst>
              <a:path h="4869669" w="7623748">
                <a:moveTo>
                  <a:pt x="0" y="0"/>
                </a:moveTo>
                <a:lnTo>
                  <a:pt x="7623748" y="0"/>
                </a:lnTo>
                <a:lnTo>
                  <a:pt x="7623748" y="4869669"/>
                </a:lnTo>
                <a:lnTo>
                  <a:pt x="0" y="4869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75705" y="2837770"/>
            <a:ext cx="546584" cy="834480"/>
          </a:xfrm>
          <a:custGeom>
            <a:avLst/>
            <a:gdLst/>
            <a:ahLst/>
            <a:cxnLst/>
            <a:rect r="r" b="b" t="t" l="l"/>
            <a:pathLst>
              <a:path h="834480" w="546584">
                <a:moveTo>
                  <a:pt x="0" y="0"/>
                </a:moveTo>
                <a:lnTo>
                  <a:pt x="546584" y="0"/>
                </a:lnTo>
                <a:lnTo>
                  <a:pt x="546584" y="834479"/>
                </a:lnTo>
                <a:lnTo>
                  <a:pt x="0" y="834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28856" y="4758099"/>
            <a:ext cx="656145" cy="770802"/>
          </a:xfrm>
          <a:custGeom>
            <a:avLst/>
            <a:gdLst/>
            <a:ahLst/>
            <a:cxnLst/>
            <a:rect r="r" b="b" t="t" l="l"/>
            <a:pathLst>
              <a:path h="770802" w="656145">
                <a:moveTo>
                  <a:pt x="0" y="0"/>
                </a:moveTo>
                <a:lnTo>
                  <a:pt x="656145" y="0"/>
                </a:lnTo>
                <a:lnTo>
                  <a:pt x="656145" y="770802"/>
                </a:lnTo>
                <a:lnTo>
                  <a:pt x="0" y="7708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38381" y="6610704"/>
            <a:ext cx="646620" cy="782596"/>
          </a:xfrm>
          <a:custGeom>
            <a:avLst/>
            <a:gdLst/>
            <a:ahLst/>
            <a:cxnLst/>
            <a:rect r="r" b="b" t="t" l="l"/>
            <a:pathLst>
              <a:path h="782596" w="646620">
                <a:moveTo>
                  <a:pt x="0" y="0"/>
                </a:moveTo>
                <a:lnTo>
                  <a:pt x="646620" y="0"/>
                </a:lnTo>
                <a:lnTo>
                  <a:pt x="646620" y="782596"/>
                </a:lnTo>
                <a:lnTo>
                  <a:pt x="0" y="7825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65195" y="1048663"/>
            <a:ext cx="8557609" cy="84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6"/>
              </a:lnSpc>
            </a:pPr>
            <a:r>
              <a:rPr lang="en-US" sz="5709">
                <a:solidFill>
                  <a:srgbClr val="FFFFFF"/>
                </a:solidFill>
                <a:latin typeface="SVN-Gilroy"/>
                <a:ea typeface="SVN-Gilroy"/>
                <a:cs typeface="SVN-Gilroy"/>
                <a:sym typeface="SVN-Gilroy"/>
              </a:rPr>
              <a:t>BỐ CỤC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26686" y="2927865"/>
            <a:ext cx="9220367" cy="83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CƠ SỞ</a:t>
            </a: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LÝ THUYẾT VÀ CÁC PHƯƠNG PHÁP NGHIÊN CỨU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26686" y="5074630"/>
            <a:ext cx="9085126" cy="4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PHÂN TÍCH</a:t>
            </a: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VÀ THIẾT KẾ HỆ THỐNG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26686" y="6802294"/>
            <a:ext cx="9085126" cy="4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TRIỂN KHAI</a:t>
            </a:r>
            <a:r>
              <a:rPr lang="en-US" sz="289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VÀ THỰC NGHIỆM HỆ THỐNG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1478" y="564870"/>
            <a:ext cx="761301" cy="1162291"/>
          </a:xfrm>
          <a:custGeom>
            <a:avLst/>
            <a:gdLst/>
            <a:ahLst/>
            <a:cxnLst/>
            <a:rect r="r" b="b" t="t" l="l"/>
            <a:pathLst>
              <a:path h="1162291" w="761301">
                <a:moveTo>
                  <a:pt x="0" y="0"/>
                </a:moveTo>
                <a:lnTo>
                  <a:pt x="761300" y="0"/>
                </a:lnTo>
                <a:lnTo>
                  <a:pt x="761300" y="1162291"/>
                </a:lnTo>
                <a:lnTo>
                  <a:pt x="0" y="11622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7639" y="2865185"/>
            <a:ext cx="5468173" cy="4114800"/>
          </a:xfrm>
          <a:custGeom>
            <a:avLst/>
            <a:gdLst/>
            <a:ahLst/>
            <a:cxnLst/>
            <a:rect r="r" b="b" t="t" l="l"/>
            <a:pathLst>
              <a:path h="4114800" w="5468173">
                <a:moveTo>
                  <a:pt x="0" y="0"/>
                </a:moveTo>
                <a:lnTo>
                  <a:pt x="5468173" y="0"/>
                </a:lnTo>
                <a:lnTo>
                  <a:pt x="5468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24167" y="2865185"/>
            <a:ext cx="5981471" cy="3145096"/>
          </a:xfrm>
          <a:custGeom>
            <a:avLst/>
            <a:gdLst/>
            <a:ahLst/>
            <a:cxnLst/>
            <a:rect r="r" b="b" t="t" l="l"/>
            <a:pathLst>
              <a:path h="3145096" w="5981471">
                <a:moveTo>
                  <a:pt x="0" y="0"/>
                </a:moveTo>
                <a:lnTo>
                  <a:pt x="5981471" y="0"/>
                </a:lnTo>
                <a:lnTo>
                  <a:pt x="5981471" y="3145096"/>
                </a:lnTo>
                <a:lnTo>
                  <a:pt x="0" y="31450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4018" y="562614"/>
            <a:ext cx="12842437" cy="116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403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CƠ SỞ</a:t>
            </a:r>
            <a:r>
              <a:rPr lang="en-US" sz="403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LÝ THUYẾT VÀ CÁC PHƯƠNG PHÁP NGHIÊN CỨU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2466" y="7214371"/>
            <a:ext cx="5763346" cy="47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sz="1581">
                <a:solidFill>
                  <a:srgbClr val="FFFFFF"/>
                </a:solidFill>
                <a:latin typeface="SVN-Gilroy"/>
                <a:ea typeface="SVN-Gilroy"/>
                <a:cs typeface="SVN-Gilroy"/>
                <a:sym typeface="SVN-Gilroy"/>
              </a:rPr>
              <a:t>TỔNG QUAN VỀ PHÂN TÍCH DỮ LIỆU TRONG KINH DOANH ONLINE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24167" y="7134231"/>
            <a:ext cx="5763346" cy="47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sz="1581">
                <a:solidFill>
                  <a:srgbClr val="FFFFFF"/>
                </a:solidFill>
                <a:latin typeface="SVN-Gilroy"/>
                <a:ea typeface="SVN-Gilroy"/>
                <a:cs typeface="SVN-Gilroy"/>
                <a:sym typeface="SVN-Gilroy"/>
              </a:rPr>
              <a:t>TỔNG QUAN VỀ TRỰC QUAN HÓA DỮ LIỆU VÀ TẦM QUAN TRỌNG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4720" y="5417331"/>
            <a:ext cx="7623748" cy="4869669"/>
          </a:xfrm>
          <a:custGeom>
            <a:avLst/>
            <a:gdLst/>
            <a:ahLst/>
            <a:cxnLst/>
            <a:rect r="r" b="b" t="t" l="l"/>
            <a:pathLst>
              <a:path h="4869669" w="7623748">
                <a:moveTo>
                  <a:pt x="0" y="0"/>
                </a:moveTo>
                <a:lnTo>
                  <a:pt x="7623748" y="0"/>
                </a:lnTo>
                <a:lnTo>
                  <a:pt x="7623748" y="4869669"/>
                </a:lnTo>
                <a:lnTo>
                  <a:pt x="0" y="4869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1478" y="564870"/>
            <a:ext cx="761301" cy="1162291"/>
          </a:xfrm>
          <a:custGeom>
            <a:avLst/>
            <a:gdLst/>
            <a:ahLst/>
            <a:cxnLst/>
            <a:rect r="r" b="b" t="t" l="l"/>
            <a:pathLst>
              <a:path h="1162291" w="761301">
                <a:moveTo>
                  <a:pt x="0" y="0"/>
                </a:moveTo>
                <a:lnTo>
                  <a:pt x="761300" y="0"/>
                </a:lnTo>
                <a:lnTo>
                  <a:pt x="761300" y="1162291"/>
                </a:lnTo>
                <a:lnTo>
                  <a:pt x="0" y="11622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618" y="3467749"/>
            <a:ext cx="2911392" cy="2911392"/>
          </a:xfrm>
          <a:custGeom>
            <a:avLst/>
            <a:gdLst/>
            <a:ahLst/>
            <a:cxnLst/>
            <a:rect r="r" b="b" t="t" l="l"/>
            <a:pathLst>
              <a:path h="2911392" w="2911392">
                <a:moveTo>
                  <a:pt x="0" y="0"/>
                </a:moveTo>
                <a:lnTo>
                  <a:pt x="2911392" y="0"/>
                </a:lnTo>
                <a:lnTo>
                  <a:pt x="2911392" y="2911392"/>
                </a:lnTo>
                <a:lnTo>
                  <a:pt x="0" y="29113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54660" y="3856762"/>
            <a:ext cx="3434474" cy="1923305"/>
          </a:xfrm>
          <a:custGeom>
            <a:avLst/>
            <a:gdLst/>
            <a:ahLst/>
            <a:cxnLst/>
            <a:rect r="r" b="b" t="t" l="l"/>
            <a:pathLst>
              <a:path h="1923305" w="3434474">
                <a:moveTo>
                  <a:pt x="0" y="0"/>
                </a:moveTo>
                <a:lnTo>
                  <a:pt x="3434474" y="0"/>
                </a:lnTo>
                <a:lnTo>
                  <a:pt x="3434474" y="1923306"/>
                </a:lnTo>
                <a:lnTo>
                  <a:pt x="0" y="19233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4018" y="562614"/>
            <a:ext cx="12842437" cy="116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403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CƠ SỞ</a:t>
            </a:r>
            <a:r>
              <a:rPr lang="en-US" sz="403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LÝ THUYẾT VÀ CÁC PHƯƠNG PHÁP NGHIÊN CỨU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890310"/>
            <a:ext cx="4715489" cy="47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8"/>
              </a:lnSpc>
            </a:pPr>
            <a:r>
              <a:rPr lang="en-US" sz="3146">
                <a:solidFill>
                  <a:srgbClr val="FFFFFF"/>
                </a:solidFill>
                <a:latin typeface="SVN-Gilroy"/>
                <a:ea typeface="SVN-Gilroy"/>
                <a:cs typeface="SVN-Gilroy"/>
                <a:sym typeface="SVN-Gilroy"/>
              </a:rPr>
              <a:t>NGÔN NGỮ PYTHON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63605" y="6869403"/>
            <a:ext cx="5016583" cy="4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3347">
                <a:solidFill>
                  <a:srgbClr val="FFFFFF"/>
                </a:solidFill>
                <a:latin typeface="SVN-Gilroy"/>
                <a:ea typeface="SVN-Gilroy"/>
                <a:cs typeface="SVN-Gilroy"/>
                <a:sym typeface="SVN-Gilroy"/>
              </a:rPr>
              <a:t>CÔNG CỤ TRỰC QUAN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43299"/>
            <a:ext cx="963788" cy="1132204"/>
          </a:xfrm>
          <a:custGeom>
            <a:avLst/>
            <a:gdLst/>
            <a:ahLst/>
            <a:cxnLst/>
            <a:rect r="r" b="b" t="t" l="l"/>
            <a:pathLst>
              <a:path h="1132204" w="963788">
                <a:moveTo>
                  <a:pt x="0" y="0"/>
                </a:moveTo>
                <a:lnTo>
                  <a:pt x="963788" y="0"/>
                </a:lnTo>
                <a:lnTo>
                  <a:pt x="963788" y="1132204"/>
                </a:lnTo>
                <a:lnTo>
                  <a:pt x="0" y="1132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92488" y="900284"/>
            <a:ext cx="13344825" cy="63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435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PHÂN TÍCH</a:t>
            </a:r>
            <a:r>
              <a:rPr lang="en-US" sz="435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VÀ THIẾT KẾ HỆ THỐNG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6408" y="2452498"/>
            <a:ext cx="4221212" cy="4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4"/>
              </a:lnSpc>
              <a:spcBef>
                <a:spcPct val="0"/>
              </a:spcBef>
            </a:pPr>
            <a:r>
              <a:rPr lang="en-US" b="true" sz="2899">
                <a:solidFill>
                  <a:srgbClr val="FECB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YÊU CẦU CHỨC NĂNG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52240" y="2347595"/>
            <a:ext cx="5663075" cy="4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4"/>
              </a:lnSpc>
              <a:spcBef>
                <a:spcPct val="0"/>
              </a:spcBef>
            </a:pPr>
            <a:r>
              <a:rPr lang="en-US" b="true" sz="2899">
                <a:solidFill>
                  <a:srgbClr val="FECB0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YÊU CẦU PHI CHỨC NĂNG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9163050" y="2328545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845215" y="3353760"/>
            <a:ext cx="2603599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THU THẬP DỮ LIỆU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66312" y="4079433"/>
            <a:ext cx="1961406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XỬ</a:t>
            </a: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LÝ DỮ LIỆU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4121" y="4873818"/>
            <a:ext cx="2725787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PHÂN</a:t>
            </a: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TÍCH DỮ LIỆU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06829" y="5668203"/>
            <a:ext cx="3558183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TRỰC QUAN</a:t>
            </a: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HÓA DỮ LIỆU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7816" y="6462588"/>
            <a:ext cx="4532858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DỰ ĐOÁN</a:t>
            </a: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XU HƯỚNG BÁN HÀNG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07935" y="3319404"/>
            <a:ext cx="243081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TÍNH THÂN THIỆN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5028" y="4238501"/>
            <a:ext cx="2276624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TÍNH</a:t>
            </a: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CHÍNH XÁC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50996" y="5032886"/>
            <a:ext cx="2125117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TÍN</a:t>
            </a: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 MỞ RỘNG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27791" y="5827271"/>
            <a:ext cx="2010221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TÍN</a:t>
            </a: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 BẢO MẬT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43299"/>
            <a:ext cx="963788" cy="1132204"/>
          </a:xfrm>
          <a:custGeom>
            <a:avLst/>
            <a:gdLst/>
            <a:ahLst/>
            <a:cxnLst/>
            <a:rect r="r" b="b" t="t" l="l"/>
            <a:pathLst>
              <a:path h="1132204" w="963788">
                <a:moveTo>
                  <a:pt x="0" y="0"/>
                </a:moveTo>
                <a:lnTo>
                  <a:pt x="963788" y="0"/>
                </a:lnTo>
                <a:lnTo>
                  <a:pt x="963788" y="1132204"/>
                </a:lnTo>
                <a:lnTo>
                  <a:pt x="0" y="1132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92488" y="4010772"/>
            <a:ext cx="3093523" cy="2567624"/>
          </a:xfrm>
          <a:custGeom>
            <a:avLst/>
            <a:gdLst/>
            <a:ahLst/>
            <a:cxnLst/>
            <a:rect r="r" b="b" t="t" l="l"/>
            <a:pathLst>
              <a:path h="2567624" w="3093523">
                <a:moveTo>
                  <a:pt x="0" y="0"/>
                </a:moveTo>
                <a:lnTo>
                  <a:pt x="3093524" y="0"/>
                </a:lnTo>
                <a:lnTo>
                  <a:pt x="3093524" y="2567625"/>
                </a:lnTo>
                <a:lnTo>
                  <a:pt x="0" y="2567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76585" y="3838325"/>
            <a:ext cx="2912520" cy="2912520"/>
          </a:xfrm>
          <a:custGeom>
            <a:avLst/>
            <a:gdLst/>
            <a:ahLst/>
            <a:cxnLst/>
            <a:rect r="r" b="b" t="t" l="l"/>
            <a:pathLst>
              <a:path h="2912520" w="2912520">
                <a:moveTo>
                  <a:pt x="0" y="0"/>
                </a:moveTo>
                <a:lnTo>
                  <a:pt x="2912520" y="0"/>
                </a:lnTo>
                <a:lnTo>
                  <a:pt x="2912520" y="2912519"/>
                </a:lnTo>
                <a:lnTo>
                  <a:pt x="0" y="291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3613" y="4514394"/>
            <a:ext cx="2827401" cy="2064003"/>
          </a:xfrm>
          <a:custGeom>
            <a:avLst/>
            <a:gdLst/>
            <a:ahLst/>
            <a:cxnLst/>
            <a:rect r="r" b="b" t="t" l="l"/>
            <a:pathLst>
              <a:path h="2064003" w="2827401">
                <a:moveTo>
                  <a:pt x="0" y="0"/>
                </a:moveTo>
                <a:lnTo>
                  <a:pt x="2827401" y="0"/>
                </a:lnTo>
                <a:lnTo>
                  <a:pt x="2827401" y="2064003"/>
                </a:lnTo>
                <a:lnTo>
                  <a:pt x="0" y="20640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92488" y="900284"/>
            <a:ext cx="13344825" cy="63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435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PHÂN TÍCH</a:t>
            </a:r>
            <a:r>
              <a:rPr lang="en-US" sz="4359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VÀ THIẾT KẾ HỆ THỐNG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22539" y="2184891"/>
            <a:ext cx="556245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KIẾN TRÚC HỆ THỐNG 3 LỚP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5927" y="7042882"/>
            <a:ext cx="3692872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LỚP DỮ LIỆU (DATA LAYER)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92118" y="6890482"/>
            <a:ext cx="369287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LỚP XỬ LÝ (PROCESSING LAYER)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80625" y="6890482"/>
            <a:ext cx="369287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LỚP TRÌNH BÀY (PRESENTATION LAYER):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4720" y="6070225"/>
            <a:ext cx="7623748" cy="4869669"/>
          </a:xfrm>
          <a:custGeom>
            <a:avLst/>
            <a:gdLst/>
            <a:ahLst/>
            <a:cxnLst/>
            <a:rect r="r" b="b" t="t" l="l"/>
            <a:pathLst>
              <a:path h="4869669" w="7623748">
                <a:moveTo>
                  <a:pt x="0" y="0"/>
                </a:moveTo>
                <a:lnTo>
                  <a:pt x="7623748" y="0"/>
                </a:lnTo>
                <a:lnTo>
                  <a:pt x="7623748" y="4869669"/>
                </a:lnTo>
                <a:lnTo>
                  <a:pt x="0" y="4869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836" y="481109"/>
            <a:ext cx="1038772" cy="1257212"/>
          </a:xfrm>
          <a:custGeom>
            <a:avLst/>
            <a:gdLst/>
            <a:ahLst/>
            <a:cxnLst/>
            <a:rect r="r" b="b" t="t" l="l"/>
            <a:pathLst>
              <a:path h="1257212" w="1038772">
                <a:moveTo>
                  <a:pt x="0" y="0"/>
                </a:moveTo>
                <a:lnTo>
                  <a:pt x="1038772" y="0"/>
                </a:lnTo>
                <a:lnTo>
                  <a:pt x="1038772" y="1257212"/>
                </a:lnTo>
                <a:lnTo>
                  <a:pt x="0" y="125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9222" y="2816894"/>
            <a:ext cx="5035995" cy="2487392"/>
          </a:xfrm>
          <a:custGeom>
            <a:avLst/>
            <a:gdLst/>
            <a:ahLst/>
            <a:cxnLst/>
            <a:rect r="r" b="b" t="t" l="l"/>
            <a:pathLst>
              <a:path h="2487392" w="5035995">
                <a:moveTo>
                  <a:pt x="0" y="0"/>
                </a:moveTo>
                <a:lnTo>
                  <a:pt x="5035995" y="0"/>
                </a:lnTo>
                <a:lnTo>
                  <a:pt x="5035995" y="2487392"/>
                </a:lnTo>
                <a:lnTo>
                  <a:pt x="0" y="24873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85695" y="2816894"/>
            <a:ext cx="5300596" cy="4008380"/>
          </a:xfrm>
          <a:custGeom>
            <a:avLst/>
            <a:gdLst/>
            <a:ahLst/>
            <a:cxnLst/>
            <a:rect r="r" b="b" t="t" l="l"/>
            <a:pathLst>
              <a:path h="4008380" w="5300596">
                <a:moveTo>
                  <a:pt x="0" y="0"/>
                </a:moveTo>
                <a:lnTo>
                  <a:pt x="5300596" y="0"/>
                </a:lnTo>
                <a:lnTo>
                  <a:pt x="5300596" y="4008380"/>
                </a:lnTo>
                <a:lnTo>
                  <a:pt x="0" y="40083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89352" y="2816894"/>
            <a:ext cx="4834483" cy="3434110"/>
          </a:xfrm>
          <a:custGeom>
            <a:avLst/>
            <a:gdLst/>
            <a:ahLst/>
            <a:cxnLst/>
            <a:rect r="r" b="b" t="t" l="l"/>
            <a:pathLst>
              <a:path h="3434110" w="4834483">
                <a:moveTo>
                  <a:pt x="0" y="0"/>
                </a:moveTo>
                <a:lnTo>
                  <a:pt x="4834484" y="0"/>
                </a:lnTo>
                <a:lnTo>
                  <a:pt x="4834484" y="3434110"/>
                </a:lnTo>
                <a:lnTo>
                  <a:pt x="0" y="34341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7472" y="825551"/>
            <a:ext cx="10966116" cy="5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TRIỂN KHAI</a:t>
            </a: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VÀ THỰC NGHIỆM HỆ THỐNG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55193" y="7596799"/>
            <a:ext cx="73615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THU THẬP VÀ LÀM SẠCH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4720" y="5417331"/>
            <a:ext cx="7623748" cy="4869669"/>
          </a:xfrm>
          <a:custGeom>
            <a:avLst/>
            <a:gdLst/>
            <a:ahLst/>
            <a:cxnLst/>
            <a:rect r="r" b="b" t="t" l="l"/>
            <a:pathLst>
              <a:path h="4869669" w="7623748">
                <a:moveTo>
                  <a:pt x="0" y="0"/>
                </a:moveTo>
                <a:lnTo>
                  <a:pt x="7623748" y="0"/>
                </a:lnTo>
                <a:lnTo>
                  <a:pt x="7623748" y="4869669"/>
                </a:lnTo>
                <a:lnTo>
                  <a:pt x="0" y="4869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836" y="481109"/>
            <a:ext cx="1038772" cy="1257212"/>
          </a:xfrm>
          <a:custGeom>
            <a:avLst/>
            <a:gdLst/>
            <a:ahLst/>
            <a:cxnLst/>
            <a:rect r="r" b="b" t="t" l="l"/>
            <a:pathLst>
              <a:path h="1257212" w="1038772">
                <a:moveTo>
                  <a:pt x="0" y="0"/>
                </a:moveTo>
                <a:lnTo>
                  <a:pt x="1038772" y="0"/>
                </a:lnTo>
                <a:lnTo>
                  <a:pt x="1038772" y="1257212"/>
                </a:lnTo>
                <a:lnTo>
                  <a:pt x="0" y="125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28837" y="2027902"/>
            <a:ext cx="11030326" cy="6231196"/>
          </a:xfrm>
          <a:custGeom>
            <a:avLst/>
            <a:gdLst/>
            <a:ahLst/>
            <a:cxnLst/>
            <a:rect r="r" b="b" t="t" l="l"/>
            <a:pathLst>
              <a:path h="6231196" w="11030326">
                <a:moveTo>
                  <a:pt x="0" y="0"/>
                </a:moveTo>
                <a:lnTo>
                  <a:pt x="11030326" y="0"/>
                </a:lnTo>
                <a:lnTo>
                  <a:pt x="11030326" y="6231196"/>
                </a:lnTo>
                <a:lnTo>
                  <a:pt x="0" y="623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7472" y="825551"/>
            <a:ext cx="10966116" cy="5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TRIỂN KHAI</a:t>
            </a: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VÀ THỰC NGHIỆM HỆ THỐNG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8079" y="8897273"/>
            <a:ext cx="857184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TRỰC QUAN HOÁ DỮ LIỆU KINH DOANH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4720" y="5417331"/>
            <a:ext cx="7623748" cy="4869669"/>
          </a:xfrm>
          <a:custGeom>
            <a:avLst/>
            <a:gdLst/>
            <a:ahLst/>
            <a:cxnLst/>
            <a:rect r="r" b="b" t="t" l="l"/>
            <a:pathLst>
              <a:path h="4869669" w="7623748">
                <a:moveTo>
                  <a:pt x="0" y="0"/>
                </a:moveTo>
                <a:lnTo>
                  <a:pt x="7623748" y="0"/>
                </a:lnTo>
                <a:lnTo>
                  <a:pt x="7623748" y="4869669"/>
                </a:lnTo>
                <a:lnTo>
                  <a:pt x="0" y="4869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836" y="481109"/>
            <a:ext cx="1038772" cy="1257212"/>
          </a:xfrm>
          <a:custGeom>
            <a:avLst/>
            <a:gdLst/>
            <a:ahLst/>
            <a:cxnLst/>
            <a:rect r="r" b="b" t="t" l="l"/>
            <a:pathLst>
              <a:path h="1257212" w="1038772">
                <a:moveTo>
                  <a:pt x="0" y="0"/>
                </a:moveTo>
                <a:lnTo>
                  <a:pt x="1038772" y="0"/>
                </a:lnTo>
                <a:lnTo>
                  <a:pt x="1038772" y="1257212"/>
                </a:lnTo>
                <a:lnTo>
                  <a:pt x="0" y="125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84969" y="1738321"/>
            <a:ext cx="6889903" cy="4297577"/>
          </a:xfrm>
          <a:custGeom>
            <a:avLst/>
            <a:gdLst/>
            <a:ahLst/>
            <a:cxnLst/>
            <a:rect r="r" b="b" t="t" l="l"/>
            <a:pathLst>
              <a:path h="4297577" w="6889903">
                <a:moveTo>
                  <a:pt x="0" y="0"/>
                </a:moveTo>
                <a:lnTo>
                  <a:pt x="6889904" y="0"/>
                </a:lnTo>
                <a:lnTo>
                  <a:pt x="6889904" y="4297577"/>
                </a:lnTo>
                <a:lnTo>
                  <a:pt x="0" y="42975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44298" y="1738321"/>
            <a:ext cx="5507265" cy="4297577"/>
          </a:xfrm>
          <a:custGeom>
            <a:avLst/>
            <a:gdLst/>
            <a:ahLst/>
            <a:cxnLst/>
            <a:rect r="r" b="b" t="t" l="l"/>
            <a:pathLst>
              <a:path h="4297577" w="5507265">
                <a:moveTo>
                  <a:pt x="0" y="0"/>
                </a:moveTo>
                <a:lnTo>
                  <a:pt x="5507265" y="0"/>
                </a:lnTo>
                <a:lnTo>
                  <a:pt x="5507265" y="4297577"/>
                </a:lnTo>
                <a:lnTo>
                  <a:pt x="0" y="42975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648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7472" y="825551"/>
            <a:ext cx="10966116" cy="5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TRIỂN KHAI</a:t>
            </a: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VÀ THỰC NGHIỆM HỆ THỐNG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58079" y="7423541"/>
            <a:ext cx="857184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HUẤN LUYỆN VÀ ĐÁNH GIÁ MÔ HÌNH DỰ ĐOÁN BẰNG PYTHON</a:t>
            </a:r>
          </a:p>
          <a:p>
            <a:pPr algn="ctr">
              <a:lnSpc>
                <a:spcPts val="34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94720" y="5417331"/>
            <a:ext cx="7623748" cy="4869669"/>
          </a:xfrm>
          <a:custGeom>
            <a:avLst/>
            <a:gdLst/>
            <a:ahLst/>
            <a:cxnLst/>
            <a:rect r="r" b="b" t="t" l="l"/>
            <a:pathLst>
              <a:path h="4869669" w="7623748">
                <a:moveTo>
                  <a:pt x="0" y="0"/>
                </a:moveTo>
                <a:lnTo>
                  <a:pt x="7623748" y="0"/>
                </a:lnTo>
                <a:lnTo>
                  <a:pt x="7623748" y="4869669"/>
                </a:lnTo>
                <a:lnTo>
                  <a:pt x="0" y="4869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836" y="481109"/>
            <a:ext cx="1038772" cy="1257212"/>
          </a:xfrm>
          <a:custGeom>
            <a:avLst/>
            <a:gdLst/>
            <a:ahLst/>
            <a:cxnLst/>
            <a:rect r="r" b="b" t="t" l="l"/>
            <a:pathLst>
              <a:path h="1257212" w="1038772">
                <a:moveTo>
                  <a:pt x="0" y="0"/>
                </a:moveTo>
                <a:lnTo>
                  <a:pt x="1038772" y="0"/>
                </a:lnTo>
                <a:lnTo>
                  <a:pt x="1038772" y="1257212"/>
                </a:lnTo>
                <a:lnTo>
                  <a:pt x="0" y="125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15553" y="235130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7472" y="825551"/>
            <a:ext cx="10966116" cy="5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TRIỂN KHAI</a:t>
            </a: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VÀ THỰC NGHIỆM HỆ THỐNG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8079" y="7423541"/>
            <a:ext cx="857184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THỰC NGHIỆM HỆ THỐNG VỚI DỮ LIỆU MẪU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36" y="481109"/>
            <a:ext cx="1038772" cy="1257212"/>
          </a:xfrm>
          <a:custGeom>
            <a:avLst/>
            <a:gdLst/>
            <a:ahLst/>
            <a:cxnLst/>
            <a:rect r="r" b="b" t="t" l="l"/>
            <a:pathLst>
              <a:path h="1257212" w="1038772">
                <a:moveTo>
                  <a:pt x="0" y="0"/>
                </a:moveTo>
                <a:lnTo>
                  <a:pt x="1038772" y="0"/>
                </a:lnTo>
                <a:lnTo>
                  <a:pt x="1038772" y="1257212"/>
                </a:lnTo>
                <a:lnTo>
                  <a:pt x="0" y="1257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59157" y="1738321"/>
            <a:ext cx="2578110" cy="2578110"/>
          </a:xfrm>
          <a:custGeom>
            <a:avLst/>
            <a:gdLst/>
            <a:ahLst/>
            <a:cxnLst/>
            <a:rect r="r" b="b" t="t" l="l"/>
            <a:pathLst>
              <a:path h="2578110" w="2578110">
                <a:moveTo>
                  <a:pt x="0" y="0"/>
                </a:moveTo>
                <a:lnTo>
                  <a:pt x="2578111" y="0"/>
                </a:lnTo>
                <a:lnTo>
                  <a:pt x="2578111" y="2578110"/>
                </a:lnTo>
                <a:lnTo>
                  <a:pt x="0" y="257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77933" y="1568538"/>
            <a:ext cx="2960292" cy="2960292"/>
          </a:xfrm>
          <a:custGeom>
            <a:avLst/>
            <a:gdLst/>
            <a:ahLst/>
            <a:cxnLst/>
            <a:rect r="r" b="b" t="t" l="l"/>
            <a:pathLst>
              <a:path h="2960292" w="2960292">
                <a:moveTo>
                  <a:pt x="0" y="0"/>
                </a:moveTo>
                <a:lnTo>
                  <a:pt x="2960292" y="0"/>
                </a:lnTo>
                <a:lnTo>
                  <a:pt x="2960292" y="2960292"/>
                </a:lnTo>
                <a:lnTo>
                  <a:pt x="0" y="29602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7472" y="825551"/>
            <a:ext cx="10966116" cy="5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TRIỂN KHAI</a:t>
            </a: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VÀ THỰC NGHIỆM HỆ THỐNG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7856" y="4324043"/>
            <a:ext cx="369902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ƯU ĐIỂM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50822" y="4269988"/>
            <a:ext cx="857184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NHƯỢC ĐIỂM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0163" y="5344291"/>
            <a:ext cx="7272189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KẾT HỢP SỨC MẠNH PHÂN TÍCH VÀ TRỰC QUAN HÓA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09132" y="6140503"/>
            <a:ext cx="2956471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KHẢ NĂNG MỞ RỘNG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6602" y="7039663"/>
            <a:ext cx="724153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HỖ TRỢ RA QUYẾT ĐỊNH NHANH VÀ CHÍNH XÁC HƠN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75931" y="5344291"/>
            <a:ext cx="6321623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CHẤT LƯỢNG DỮ LIỆU THỰC TẾ CÒN HẠN CHẾ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55190" y="6140503"/>
            <a:ext cx="555679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ĐỘ CHÍNH XÁC CỦA MÔ HÌNH DỰ ĐOÁN </a:t>
            </a:r>
          </a:p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CÒN PHỤ THUỘC VÀO DỮ LIỆU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60352" y="7087288"/>
            <a:ext cx="5816054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YÊU CẦU HẠ TẦNG LƯU TRỮ VÀ TÍNH TOÁN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36" y="481109"/>
            <a:ext cx="1038772" cy="1257212"/>
          </a:xfrm>
          <a:custGeom>
            <a:avLst/>
            <a:gdLst/>
            <a:ahLst/>
            <a:cxnLst/>
            <a:rect r="r" b="b" t="t" l="l"/>
            <a:pathLst>
              <a:path h="1257212" w="1038772">
                <a:moveTo>
                  <a:pt x="0" y="0"/>
                </a:moveTo>
                <a:lnTo>
                  <a:pt x="1038772" y="0"/>
                </a:lnTo>
                <a:lnTo>
                  <a:pt x="1038772" y="1257212"/>
                </a:lnTo>
                <a:lnTo>
                  <a:pt x="0" y="1257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21143" y="4049851"/>
            <a:ext cx="2490558" cy="2490558"/>
          </a:xfrm>
          <a:custGeom>
            <a:avLst/>
            <a:gdLst/>
            <a:ahLst/>
            <a:cxnLst/>
            <a:rect r="r" b="b" t="t" l="l"/>
            <a:pathLst>
              <a:path h="2490558" w="2490558">
                <a:moveTo>
                  <a:pt x="0" y="0"/>
                </a:moveTo>
                <a:lnTo>
                  <a:pt x="2490558" y="0"/>
                </a:lnTo>
                <a:lnTo>
                  <a:pt x="2490558" y="2490558"/>
                </a:lnTo>
                <a:lnTo>
                  <a:pt x="0" y="24905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19383" y="4378716"/>
            <a:ext cx="2768199" cy="2079610"/>
          </a:xfrm>
          <a:custGeom>
            <a:avLst/>
            <a:gdLst/>
            <a:ahLst/>
            <a:cxnLst/>
            <a:rect r="r" b="b" t="t" l="l"/>
            <a:pathLst>
              <a:path h="2079610" w="2768199">
                <a:moveTo>
                  <a:pt x="0" y="0"/>
                </a:moveTo>
                <a:lnTo>
                  <a:pt x="2768199" y="0"/>
                </a:lnTo>
                <a:lnTo>
                  <a:pt x="2768199" y="2079610"/>
                </a:lnTo>
                <a:lnTo>
                  <a:pt x="0" y="20796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16896" y="4196963"/>
            <a:ext cx="2546262" cy="2546262"/>
          </a:xfrm>
          <a:custGeom>
            <a:avLst/>
            <a:gdLst/>
            <a:ahLst/>
            <a:cxnLst/>
            <a:rect r="r" b="b" t="t" l="l"/>
            <a:pathLst>
              <a:path h="2546262" w="2546262">
                <a:moveTo>
                  <a:pt x="0" y="0"/>
                </a:moveTo>
                <a:lnTo>
                  <a:pt x="2546262" y="0"/>
                </a:lnTo>
                <a:lnTo>
                  <a:pt x="2546262" y="2546262"/>
                </a:lnTo>
                <a:lnTo>
                  <a:pt x="0" y="25462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69242" y="4321566"/>
            <a:ext cx="2402609" cy="2402609"/>
          </a:xfrm>
          <a:custGeom>
            <a:avLst/>
            <a:gdLst/>
            <a:ahLst/>
            <a:cxnLst/>
            <a:rect r="r" b="b" t="t" l="l"/>
            <a:pathLst>
              <a:path h="2402609" w="2402609">
                <a:moveTo>
                  <a:pt x="0" y="0"/>
                </a:moveTo>
                <a:lnTo>
                  <a:pt x="2402609" y="0"/>
                </a:lnTo>
                <a:lnTo>
                  <a:pt x="2402609" y="2402609"/>
                </a:lnTo>
                <a:lnTo>
                  <a:pt x="0" y="24026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7472" y="825551"/>
            <a:ext cx="10966116" cy="5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TRIỂN KHAI</a:t>
            </a:r>
            <a:r>
              <a:rPr lang="en-US" sz="4000">
                <a:solidFill>
                  <a:srgbClr val="FECB02"/>
                </a:solidFill>
                <a:latin typeface="Montserrat"/>
                <a:ea typeface="Montserrat"/>
                <a:cs typeface="Montserrat"/>
                <a:sym typeface="Montserrat"/>
              </a:rPr>
              <a:t> VÀ THỰC NGHIỆM HỆ THỐNG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58079" y="1906357"/>
            <a:ext cx="857184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HƯỚNG PHÁT TRIỂN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608" y="7080034"/>
            <a:ext cx="2587823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MỞ RỘNG DỮ LIỆU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1837" y="6927634"/>
            <a:ext cx="293637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ỨNG DỤNG HỌC MÁY</a:t>
            </a:r>
          </a:p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NÂNG CAO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34566" y="7060984"/>
            <a:ext cx="3071961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PHÂN TÍCH REAL-TIME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19383" y="6927634"/>
            <a:ext cx="307196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MỞ RỘNG CHỨC NĂNG DASHBOARD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14586" y="4273591"/>
            <a:ext cx="13658828" cy="275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82"/>
              </a:lnSpc>
            </a:pPr>
            <a:r>
              <a:rPr lang="en-US" sz="1868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DAGzlQN6tG0</dc:identifier>
  <dcterms:modified xsi:type="dcterms:W3CDTF">2011-08-01T06:04:30Z</dcterms:modified>
  <cp:revision>1</cp:revision>
  <dc:title>Black and White Simple Professional Data Analysis Presentation</dc:title>
</cp:coreProperties>
</file>